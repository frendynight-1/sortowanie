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1ac4bb0cb244ab" /><Relationship Type="http://schemas.openxmlformats.org/officeDocument/2006/relationships/extended-properties" Target="/docProps/app.xml" Id="R4cd940599cb94725" /><Relationship Type="http://schemas.openxmlformats.org/officeDocument/2006/relationships/officeDocument" Target="/ppt/presentation.xml" Id="R38c54eb30ba944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9e368f8c594435"/>
  </p:sldMasterIdLst>
  <p:notesMasterIdLst>
    <p:notesMasterId xmlns:r="http://schemas.openxmlformats.org/officeDocument/2006/relationships" r:id="Re3fe2bbb7353452b"/>
  </p:notesMasterIdLst>
  <p:sldIdLst>
    <p:sldId xmlns:r="http://schemas.openxmlformats.org/officeDocument/2006/relationships" id="256" r:id="R13d1d354224b4923"/>
    <p:sldId xmlns:r="http://schemas.openxmlformats.org/officeDocument/2006/relationships" id="257" r:id="R5bc99b5b2a924cab"/>
    <p:sldId xmlns:r="http://schemas.openxmlformats.org/officeDocument/2006/relationships" id="258" r:id="R51e44b23d3124c42"/>
    <p:sldId xmlns:r="http://schemas.openxmlformats.org/officeDocument/2006/relationships" id="259" r:id="R1c85c8e5110a4515"/>
    <p:sldId xmlns:r="http://schemas.openxmlformats.org/officeDocument/2006/relationships" id="260" r:id="R7af5213ff11d49f0"/>
    <p:sldId xmlns:r="http://schemas.openxmlformats.org/officeDocument/2006/relationships" id="261" r:id="Rb7350e6dcefc43dd"/>
    <p:sldId xmlns:r="http://schemas.openxmlformats.org/officeDocument/2006/relationships" id="262" r:id="R17492a4751e34642"/>
    <p:sldId xmlns:r="http://schemas.openxmlformats.org/officeDocument/2006/relationships" id="263" r:id="R05fb257304ca4bb8"/>
    <p:sldId xmlns:r="http://schemas.openxmlformats.org/officeDocument/2006/relationships" id="264" r:id="Reb2061f2ca3b4a12"/>
    <p:sldId xmlns:r="http://schemas.openxmlformats.org/officeDocument/2006/relationships" id="265" r:id="R829c2a80210a43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26c64f6b3e4639" /><Relationship Type="http://schemas.openxmlformats.org/officeDocument/2006/relationships/slideMaster" Target="/ppt/slideMasters/slideMaster1.xml" Id="R0f9e368f8c594435" /><Relationship Type="http://schemas.openxmlformats.org/officeDocument/2006/relationships/notesMaster" Target="/ppt/notesMasters/notesMaster1.xml" Id="Re3fe2bbb7353452b" /><Relationship Type="http://schemas.openxmlformats.org/officeDocument/2006/relationships/presProps" Target="/ppt/presProps.xml" Id="Rab9f10ba83ac47a2" /><Relationship Type="http://schemas.openxmlformats.org/officeDocument/2006/relationships/tableStyles" Target="/ppt/tableStyles.xml" Id="R25819ec7f5474fe5" /><Relationship Type="http://schemas.openxmlformats.org/officeDocument/2006/relationships/slide" Target="/ppt/slides/slide1.xml" Id="R13d1d354224b4923" /><Relationship Type="http://schemas.openxmlformats.org/officeDocument/2006/relationships/slide" Target="/ppt/slides/slide2.xml" Id="R5bc99b5b2a924cab" /><Relationship Type="http://schemas.openxmlformats.org/officeDocument/2006/relationships/slide" Target="/ppt/slides/slide3.xml" Id="R51e44b23d3124c42" /><Relationship Type="http://schemas.openxmlformats.org/officeDocument/2006/relationships/slide" Target="/ppt/slides/slide4.xml" Id="R1c85c8e5110a4515" /><Relationship Type="http://schemas.openxmlformats.org/officeDocument/2006/relationships/slide" Target="/ppt/slides/slide5.xml" Id="R7af5213ff11d49f0" /><Relationship Type="http://schemas.openxmlformats.org/officeDocument/2006/relationships/slide" Target="/ppt/slides/slide6.xml" Id="Rb7350e6dcefc43dd" /><Relationship Type="http://schemas.openxmlformats.org/officeDocument/2006/relationships/slide" Target="/ppt/slides/slide7.xml" Id="R17492a4751e34642" /><Relationship Type="http://schemas.openxmlformats.org/officeDocument/2006/relationships/slide" Target="/ppt/slides/slide8.xml" Id="R05fb257304ca4bb8" /><Relationship Type="http://schemas.openxmlformats.org/officeDocument/2006/relationships/slide" Target="/ppt/slides/slide9.xml" Id="Reb2061f2ca3b4a12" /><Relationship Type="http://schemas.openxmlformats.org/officeDocument/2006/relationships/slide" Target="/ppt/slides/slide10.xml" Id="R829c2a80210a43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af17553c7f4f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a2fb24a0544013" /><Relationship Type="http://schemas.openxmlformats.org/officeDocument/2006/relationships/notesMaster" Target="/ppt/notesMasters/notesMaster1.xml" Id="R88f8628dc70a4a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a8a3769f814045" /><Relationship Type="http://schemas.openxmlformats.org/officeDocument/2006/relationships/notesMaster" Target="/ppt/notesMasters/notesMaster1.xml" Id="R9dc7f43b924940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aceaa337c7465c" /><Relationship Type="http://schemas.openxmlformats.org/officeDocument/2006/relationships/notesMaster" Target="/ppt/notesMasters/notesMaster1.xml" Id="Rafca0507494749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d52ec0bc6045a0" /><Relationship Type="http://schemas.openxmlformats.org/officeDocument/2006/relationships/notesMaster" Target="/ppt/notesMasters/notesMaster1.xml" Id="Red5f9c44ca6443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57801553b9477d" /><Relationship Type="http://schemas.openxmlformats.org/officeDocument/2006/relationships/notesMaster" Target="/ppt/notesMasters/notesMaster1.xml" Id="R06c9f40eb3ee43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c250e6bfae4a2f" /><Relationship Type="http://schemas.openxmlformats.org/officeDocument/2006/relationships/notesMaster" Target="/ppt/notesMasters/notesMaster1.xml" Id="R03323cdfd7b94b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d7b6a1aae04463" /><Relationship Type="http://schemas.openxmlformats.org/officeDocument/2006/relationships/notesMaster" Target="/ppt/notesMasters/notesMaster1.xml" Id="Re4e0d8a1f9b047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b366263fe94578" /><Relationship Type="http://schemas.openxmlformats.org/officeDocument/2006/relationships/notesMaster" Target="/ppt/notesMasters/notesMaster1.xml" Id="Rbecf0c24b98244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d3b737805d493c" /><Relationship Type="http://schemas.openxmlformats.org/officeDocument/2006/relationships/notesMaster" Target="/ppt/notesMasters/notesMaster1.xml" Id="R2114784dcab842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b23cb23b1a473e" /><Relationship Type="http://schemas.openxmlformats.org/officeDocument/2006/relationships/notesMaster" Target="/ppt/notesMasters/notesMaster1.xml" Id="R92462656f3f049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Źródła referencyjne: Princeton Algorithms, Elementary Sorts — https://algs4.cs.princeton.edu/21elementary/; Mergesort — https://algs4.cs.princeton.edu/22mergesort/; Quicksort — https://algs4.cs.princeton.edu/23quicksort/. Szczegóły wariantów w prezentacji odpowiadają lokalnej implementacji projektu.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Nazwy zmiennych i warunki odpowiadają implementacji w src/algorithms.js. Zasady stabilności i wariantów można porównać z materiałami Princeton Algorithms: https://algs4.cs.princeton.edu/21elementary/, https://algs4.cs.princeton.edu/22mergesort/, https://algs4.cs.princeton.edu/23quicksort/.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 liczb: lokalny skrypt scripts/benchmark.js uruchomiony na kodzie projektu. Pełne 36 zestawów wyników: docs/benchmark-results.json. Dane są licznikami operacji, nie pomiarem czasu.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Materiały referencyjne podane w zadaniu: Princeton Algorithms, Elementary Sorts — https://algs4.cs.princeton.edu/21elementary/; Mergesort — https://algs4.cs.princeton.edu/22mergesort/; Quicksort — https://algs4.cs.princeton.edu/23quicksort/. Pomoc AI wykorzystano przy przygotowaniu kodu i treści, a działanie sprawdzono lokalnymi testami.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Projekt przygotowano z pomocą asystenta AI. Autor powinien zrozumieć implementację, samodzielnie przećwiczyć demonstrację i potwierdzić wyniki przed oddaniem. GitHub publikuje autor samodzielnie.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ebd579aeb741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08ce2299c64e3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8cc6463ff646e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f93dccd2a34b7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0bf1ce66854fd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ab0ddd235d43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309AF8-DA4C-43CE-8B42-B221258DF4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5739158-166B-40B6-BDDF-785CE3B9A75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E503DC4-DD90-493E-82A8-8C49C6952B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C18B66-1F44-4B04-9905-8C8B86C33D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948AE52-31E1-4BF8-9C1B-1E51403BD6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0136BF9-D8C6-4A48-8338-44121E0C6E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2C5C1DE-C811-452C-BE43-1186BEABD4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C748E77-56B7-4789-BCBF-1CADC4D4DC3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957B19-2ACF-42E0-B330-E810C38BDC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0DFBD25-D36C-4B78-BB18-1C20AF6FFC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7ce16e6315410e" /><Relationship Type="http://schemas.openxmlformats.org/officeDocument/2006/relationships/slideLayout" Target="/ppt/slideLayouts/slideLayout1.xml" Id="R7134080cffb3426a" /><Relationship Type="http://schemas.openxmlformats.org/officeDocument/2006/relationships/slideLayout" Target="/ppt/slideLayouts/slideLayout2.xml" Id="Rf2c5183e51274b6c" /><Relationship Type="http://schemas.openxmlformats.org/officeDocument/2006/relationships/slideLayout" Target="/ppt/slideLayouts/slideLayout3.xml" Id="R302a326884c34f7c" /><Relationship Type="http://schemas.openxmlformats.org/officeDocument/2006/relationships/slideLayout" Target="/ppt/slideLayouts/slideLayout4.xml" Id="R692e030354dd4300" /><Relationship Type="http://schemas.openxmlformats.org/officeDocument/2006/relationships/slideLayout" Target="/ppt/slideLayouts/slideLayout5.xml" Id="Ree94864e6d6945ee" /><Relationship Type="http://schemas.openxmlformats.org/officeDocument/2006/relationships/slideLayout" Target="/ppt/slideLayouts/slideLayout6.xml" Id="R0c1026dc9f3e4d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34080cffb3426a"/>
    <p:sldLayoutId xmlns:r="http://schemas.openxmlformats.org/officeDocument/2006/relationships" id="2147483650" r:id="Rf2c5183e51274b6c"/>
    <p:sldLayoutId xmlns:r="http://schemas.openxmlformats.org/officeDocument/2006/relationships" id="2147483651" r:id="R302a326884c34f7c"/>
    <p:sldLayoutId xmlns:r="http://schemas.openxmlformats.org/officeDocument/2006/relationships" id="2147483652" r:id="R692e030354dd4300"/>
    <p:sldLayoutId xmlns:r="http://schemas.openxmlformats.org/officeDocument/2006/relationships" id="2147483653" r:id="Ree94864e6d6945ee"/>
    <p:sldLayoutId xmlns:r="http://schemas.openxmlformats.org/officeDocument/2006/relationships" id="2147483654" r:id="R0c1026dc9f3e4d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bc5abca3c4420e" /><Relationship Type="http://schemas.openxmlformats.org/officeDocument/2006/relationships/notesSlide" Target="/ppt/notesSlides/notesSlide1.xml" Id="R9e458533906f43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daf04490814b3b" /><Relationship Type="http://schemas.openxmlformats.org/officeDocument/2006/relationships/notesSlide" Target="/ppt/notesSlides/notesSlide2.xml" Id="R6adcd58c9a224f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a56aa22b184e5e" /><Relationship Type="http://schemas.openxmlformats.org/officeDocument/2006/relationships/notesSlide" Target="/ppt/notesSlides/notesSlide3.xml" Id="R991fae9944ec40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99ad31534240a9" /><Relationship Type="http://schemas.openxmlformats.org/officeDocument/2006/relationships/notesSlide" Target="/ppt/notesSlides/notesSlide4.xml" Id="R8bcfdb4731cc40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7f34588dc741b8" /><Relationship Type="http://schemas.openxmlformats.org/officeDocument/2006/relationships/notesSlide" Target="/ppt/notesSlides/notesSlide5.xml" Id="R95364140f54645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306090f4b5455b" /><Relationship Type="http://schemas.openxmlformats.org/officeDocument/2006/relationships/notesSlide" Target="/ppt/notesSlides/notesSlide6.xml" Id="R3ab922e41c9243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7891ecf7644af0" /><Relationship Type="http://schemas.openxmlformats.org/officeDocument/2006/relationships/image" Target="/ppt/media/image.png" Id="R0401f029095e4996" /><Relationship Type="http://schemas.openxmlformats.org/officeDocument/2006/relationships/notesSlide" Target="/ppt/notesSlides/notesSlide7.xml" Id="R53dff775916840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959950bd8e44eb" /><Relationship Type="http://schemas.openxmlformats.org/officeDocument/2006/relationships/notesSlide" Target="/ppt/notesSlides/notesSlide8.xml" Id="R1850df164afb43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4c4d270c674ea7" /><Relationship Type="http://schemas.openxmlformats.org/officeDocument/2006/relationships/notesSlide" Target="/ppt/notesSlides/notesSlide9.xml" Id="Rf4d1a1019da44b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5f46eb89dd4faf" /><Relationship Type="http://schemas.openxmlformats.org/officeDocument/2006/relationships/notesSlide" Target="/ppt/notesSlides/notesSlide10.xml" Id="R1f7a4049d57346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07302D-A540-4615-8187-CF726712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614D9-8C55-467B-969C-1D73D3EF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52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8F1EFA-8C2C-475C-9378-AA87CFD5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62075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76F"/>
                </a:solidFill>
                <a:latin typeface="Arial"/>
                <a:ea typeface="Arial"/>
                <a:cs typeface="Arial"/>
              </a:rPr>
              <a:t>ASD1-M1-01  ·  ALGORYTMY I STRUKTURY DANYCH 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DD404-1876-4BD7-B9D0-C3E44EF9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52625"/>
            <a:ext cx="9429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87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87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73740"/>
                </a:solidFill>
                <a:latin typeface="Arial"/>
                <a:ea typeface="Arial"/>
                <a:cs typeface="Arial"/>
              </a:rPr>
              <a:t>Laboratorium</a:t>
            </a:r>
          </a:p>
          <a:p xmlns:a="http://schemas.openxmlformats.org/drawingml/2006/main">
            <a:pPr algn="l">
              <a:defRPr sz="487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73740"/>
                </a:solidFill>
                <a:latin typeface="Arial"/>
                <a:ea typeface="Arial"/>
                <a:cs typeface="Arial"/>
              </a:rPr>
              <a:t>sortowania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1F9F7-3F27-4A55-B181-1C6D9AA1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923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Interaktywny pokaz czterech metod na tych samych danych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127865-BA1E-47FF-96CF-B61D92C7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37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740"/>
                </a:solidFill>
                <a:latin typeface="Arial"/>
                <a:ea typeface="Arial"/>
                <a:cs typeface="Arial"/>
              </a:rPr>
              <a:t>Daniel Nedwecki     Numer indeksu: 93797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F9411-75DC-4558-BBD4-C3B0EA31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149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Semestr I  ·  Rok akademicki 2026/2027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671506-7114-4629-95BF-23986F35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2935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7022546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127C02-9DA7-40B4-9449-A7F095D1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F2267-39AC-4C26-B175-B53D3A3D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76F"/>
                </a:solidFill>
                <a:latin typeface="Arial"/>
                <a:ea typeface="Arial"/>
                <a:cs typeface="Arial"/>
              </a:rPr>
              <a:t>PROBLEM I CEL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F9890-C1AE-4367-82C3-2E972BC6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740"/>
                </a:solidFill>
                <a:latin typeface="Arial"/>
                <a:ea typeface="Arial"/>
                <a:cs typeface="Arial"/>
              </a:rPr>
              <a:t>Cel laboratorium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262DA-6FF2-4D05-B851-76A86116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2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748A0-BEA2-4463-AAE2-4496F6FD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ASD1-M1-01  ·  2026/2027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BA658-3B85-4294-9C35-39D9DB51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02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AB972-30C7-49B4-BE60-B90023C9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85925"/>
            <a:ext cx="10382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0">
                <a:solidFill>
                  <a:srgbClr val="1737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740"/>
                </a:solidFill>
                <a:latin typeface="Arial"/>
                <a:ea typeface="Arial"/>
                <a:cs typeface="Arial"/>
              </a:rPr>
              <a:t>Posortowana tablica nie pokazuje, dlaczego algorytm porównuje, przesuwa, zamienia albo dzieli elementy.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B7455-BB3F-493F-A8ED-1A2F98A7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29000"/>
            <a:ext cx="59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8E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8E8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8E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70DFB-26AC-4A50-B554-07131E6A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3860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BBED7-DCFC-4F42-BC65-B78A2F14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481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740"/>
                </a:solidFill>
                <a:latin typeface="Arial"/>
                <a:ea typeface="Arial"/>
                <a:cs typeface="Arial"/>
              </a:rPr>
              <a:t>Obserwuj krok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0F6C27-95BB-4A80-A91D-60A0071F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Zobacz zmianę wynikającą z kodu.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557D7E-305E-44DA-8E64-DCE8B013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29000"/>
            <a:ext cx="59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8E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8E8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8E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06336-C505-4570-B722-C589CA5A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3860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92EC2A-4B48-4D09-A290-82E9C2D1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481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740"/>
                </a:solidFill>
                <a:latin typeface="Arial"/>
                <a:ea typeface="Arial"/>
                <a:cs typeface="Arial"/>
              </a:rPr>
              <a:t>Śledź stan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FF3E5-4167-4E74-A4E4-27FB5790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672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Kontroluj indeksy i zmienne algorytmu.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FEE97C-5F87-460C-95BD-BF7AE2B5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429000"/>
            <a:ext cx="59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8E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8E8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8E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EA7059-2C5C-4A80-AD99-F0FEB830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03860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048D7B-B5F5-4C6D-BF10-85307F6B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2481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740"/>
                </a:solidFill>
                <a:latin typeface="Arial"/>
                <a:ea typeface="Arial"/>
                <a:cs typeface="Arial"/>
              </a:rPr>
              <a:t>Porównuj operacje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777D26-3DBA-4E79-8B82-9304D160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6672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Mierz te same dane każdą metodą.</a:t>
            </a:r>
          </a:p>
        </p:txBody>
      </p:sp>
    </p:spTree>
    <p:extLst>
      <p:ext uri="{BB962C8B-B14F-4D97-AF65-F5344CB8AC3E}">
        <p14:creationId xmlns:p14="http://schemas.microsoft.com/office/powerpoint/2010/main" val="346449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7607C2-46EB-4AF9-AF19-13E2F15B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425EB-753A-4DB3-B08D-3D08943A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76F"/>
                </a:solidFill>
                <a:latin typeface="Arial"/>
                <a:ea typeface="Arial"/>
                <a:cs typeface="Arial"/>
              </a:rPr>
              <a:t>ZAKRES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DCDAE-92D2-4318-8FFD-2674AE19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740"/>
                </a:solidFill>
                <a:latin typeface="Arial"/>
                <a:ea typeface="Arial"/>
                <a:cs typeface="Arial"/>
              </a:rPr>
              <a:t>Cztery algorytmy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E816F-0FBD-46EE-A1BD-4A8EB38F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2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16821-9EC1-479C-AF3C-6A8F5865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ASD1-M1-01  ·  2026/2027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FBFE5-D202-4FF0-AA1F-74E4595B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03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1FD748-2A9F-4ECD-93C8-B21D4FC7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6C99C-1423-475F-99B5-B3ECCEAA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43075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740"/>
                </a:solidFill>
                <a:latin typeface="Arial"/>
                <a:ea typeface="Arial"/>
                <a:cs typeface="Arial"/>
              </a:rPr>
              <a:t>Selection Sort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6BF43B-7803-4CA9-B4FC-D9F4628A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Wybierz minimum z nieuporządkowanej części. Zamień tylko różne pozycje.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BC9F04-B00A-4408-A50C-0A48B695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4307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53F4B-F6A8-477A-AF1F-D1AD6316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743075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740"/>
                </a:solidFill>
                <a:latin typeface="Arial"/>
                <a:ea typeface="Arial"/>
                <a:cs typeface="Arial"/>
              </a:rPr>
              <a:t>Insertion Sort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675D36-B646-4B01-B4FB-8CFBDC78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266950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Przesuń większe klucze w prawo i wstaw bieżący element w wolne miejsce.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BAE920-D23F-4509-84B7-8113C1A9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B566F-C56F-4F9C-93D7-C996AB8A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740"/>
                </a:solidFill>
                <a:latin typeface="Arial"/>
                <a:ea typeface="Arial"/>
                <a:cs typeface="Arial"/>
              </a:rPr>
              <a:t>Merge Sort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2A35D6-BA32-4243-B309-CA1BE7BA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52925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Dziel tablicę i scalaj uporządkowane części. Przy remisie wybieraj lewą.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FACFF7-3241-4894-B8AF-51004F61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290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C08A0D-8189-423E-A4CF-FB06D648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8290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740"/>
                </a:solidFill>
                <a:latin typeface="Arial"/>
                <a:ea typeface="Arial"/>
                <a:cs typeface="Arial"/>
              </a:rPr>
              <a:t>Quick Sort · Lomuto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96E83D-ADEC-4D35-87A2-D910002A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352925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Użyj ostatniego elementu fragmentu jako pivota i śledź granicę podziału.</a:t>
            </a:r>
          </a:p>
        </p:txBody>
      </p:sp>
    </p:spTree>
    <p:extLst>
      <p:ext uri="{BB962C8B-B14F-4D97-AF65-F5344CB8AC3E}">
        <p14:creationId xmlns:p14="http://schemas.microsoft.com/office/powerpoint/2010/main" val="1596084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23AEC2-A7EB-4F63-B695-24373310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92090-A193-4438-BF7F-5F9C82A2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76F"/>
                </a:solidFill>
                <a:latin typeface="Arial"/>
                <a:ea typeface="Arial"/>
                <a:cs typeface="Arial"/>
              </a:rPr>
              <a:t>MECHANIZMY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2A716-262D-4FCF-A325-D1B0CF27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740"/>
                </a:solidFill>
                <a:latin typeface="Arial"/>
                <a:ea typeface="Arial"/>
                <a:cs typeface="Arial"/>
              </a:rPr>
              <a:t>Co robi kod podczas sortowania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EF61D-E540-45C5-8EBC-8A6C41CF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2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F3996-8C47-4731-9C2F-5C35399E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ASD1-M1-01  ·  2026/2027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4DABE-A199-403D-B29C-03668B49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04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5F56B-12D0-4278-AB0E-3FB9DEC2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4762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76F"/>
                </a:solidFill>
                <a:latin typeface="Arial"/>
                <a:ea typeface="Arial"/>
                <a:cs typeface="Arial"/>
              </a:rPr>
              <a:t>Metody iteracyjne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1F159-5E1B-4164-B79E-04F2B35D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5095875" cy="3648075"/>
          </a:xfrm>
          <a:prstGeom xmlns:a="http://schemas.openxmlformats.org/drawingml/2006/main" prst="roundRect">
            <a:avLst>
              <a:gd name="adj" fmla="val 2089"/>
            </a:avLst>
          </a:prstGeom>
          <a:solidFill xmlns:a="http://schemas.openxmlformats.org/drawingml/2006/main">
            <a:srgbClr val="123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343A9-4FDA-4DED-BD69-6492C6D7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466725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SELECTION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min = i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dla j = i + 1 … n−1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jeśli A[j] &lt; A[min]: min = j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zamień A[i] i A[min], gdy i ≠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INSERTION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key = A[i]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przesuwaj A[j] &gt; key w prawo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wstaw key w wolne miejsce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B92C1-3ACD-4CBB-AF3C-8E74ED23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66875"/>
            <a:ext cx="4953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76F"/>
                </a:solidFill>
                <a:latin typeface="Arial"/>
                <a:ea typeface="Arial"/>
                <a:cs typeface="Arial"/>
              </a:rPr>
              <a:t>Metody rekurencyjne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7B496B-8A8A-4739-ABD4-A39F904E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095875" cy="3648075"/>
          </a:xfrm>
          <a:prstGeom xmlns:a="http://schemas.openxmlformats.org/drawingml/2006/main" prst="roundRect">
            <a:avLst>
              <a:gd name="adj" fmla="val 2089"/>
            </a:avLst>
          </a:prstGeom>
          <a:solidFill xmlns:a="http://schemas.openxmlformats.org/drawingml/2006/main">
            <a:srgbClr val="123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FADE9-EDC3-4E09-8A36-E204B509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47900"/>
            <a:ext cx="466725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MERGE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podziel fragment na połowy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sortuj obie części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scal do bufora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przy remisie wybierz lewy element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skopiuj wynik z bufora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LOMUTO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pivot = A[prawy]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granica = lewy − 1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przesuń wartości ≤ pivot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umieść pivot za granicą</a:t>
            </a:r>
          </a:p>
        </p:txBody>
      </p:sp>
    </p:spTree>
    <p:extLst>
      <p:ext uri="{BB962C8B-B14F-4D97-AF65-F5344CB8AC3E}">
        <p14:creationId xmlns:p14="http://schemas.microsoft.com/office/powerpoint/2010/main" val="14045823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98FABB-6C0C-4335-82BA-07271D24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76F53-3897-451F-B2FF-9071617E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76F"/>
                </a:solidFill>
                <a:latin typeface="Arial"/>
                <a:ea typeface="Arial"/>
                <a:cs typeface="Arial"/>
              </a:rPr>
              <a:t>DANE I STAN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33535-C636-4875-A85F-DA495476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740"/>
                </a:solidFill>
                <a:latin typeface="Arial"/>
                <a:ea typeface="Arial"/>
                <a:cs typeface="Arial"/>
              </a:rPr>
              <a:t>Jedno wejście, widoczne zmienne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06ADE-0D72-4A2A-880D-C90F7575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2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F1937-169C-478E-8A5E-EE1AE3E7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ASD1-M1-01  ·  2026/2027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BB44B5-187A-467A-8286-5BF4E61A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05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3DB11-1A62-423B-B49F-9FA8CD53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573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322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22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776F"/>
                </a:solidFill>
                <a:latin typeface="Arial"/>
                <a:ea typeface="Arial"/>
                <a:cs typeface="Arial"/>
              </a:rPr>
              <a:t>0–40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256B0-082E-4395-8DDC-2F0C6269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628900"/>
            <a:ext cx="2324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2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DBA526-D5F6-4D64-8098-73FA6206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003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liczb całkowitych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49B2BD-D029-45A8-AE88-D7304784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573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322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22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776F"/>
                </a:solidFill>
                <a:latin typeface="Arial"/>
                <a:ea typeface="Arial"/>
                <a:cs typeface="Arial"/>
              </a:rPr>
              <a:t>−99…99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765A15-F832-4A65-B100-5876747D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28900"/>
            <a:ext cx="2324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2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95293B-93B1-4323-9B56-2EC5A310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003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dozwolony zakres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697D64-C655-4E35-B0AD-02D5CF4F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8573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322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22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776F"/>
                </a:solidFill>
                <a:latin typeface="Arial"/>
                <a:ea typeface="Arial"/>
                <a:cs typeface="Arial"/>
              </a:rPr>
              <a:t>5A, 5B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6F19DC-185C-40BE-A5D0-712B99D4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28900"/>
            <a:ext cx="2324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2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82E5FE-43C0-4EC6-BF8A-CC0A579E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8003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osobne etykiety duplikatów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04D05C-DA01-42F8-A3CF-B406CEF0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740"/>
                </a:solidFill>
                <a:latin typeface="Arial"/>
                <a:ea typeface="Arial"/>
                <a:cs typeface="Arial"/>
              </a:rPr>
              <a:t>Każdy algorytm dostaje kopię tych samych danych.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087372-B2E6-4BA3-A0F1-3528304F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76F"/>
                </a:solidFill>
                <a:latin typeface="Arial"/>
                <a:ea typeface="Arial"/>
                <a:cs typeface="Arial"/>
              </a:rPr>
              <a:t>Wejście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DE7192-AF92-410D-A102-EAB3EC81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lista i etykiety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C92290-D5B8-4599-94F8-9CD72637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0057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8E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8E8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E8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43A665-81B3-4CA0-AD43-6C0C23CD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24375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76F"/>
                </a:solidFill>
                <a:latin typeface="Arial"/>
                <a:ea typeface="Arial"/>
                <a:cs typeface="Arial"/>
              </a:rPr>
              <a:t>Algorytm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F7CCEA-C6EE-4EA3-B56B-25F8590B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05375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porównania i ruchy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F0F9E9-62AB-464D-9174-EBB2D7AF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0057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8E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8E8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E8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18476C-7EFD-44C6-BC8D-29892D9E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24375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76F"/>
                </a:solidFill>
                <a:latin typeface="Arial"/>
                <a:ea typeface="Arial"/>
                <a:cs typeface="Arial"/>
              </a:rPr>
              <a:t>Stan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18E364-AE84-4FAA-B83F-8F100C10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05375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indeksy, klucz, pivot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4ABD8E-6B07-4B49-9154-E22D29BF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0057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8E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8E8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E8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BFF794-11E3-41C3-8D6E-4CB0360E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24375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76F"/>
                </a:solidFill>
                <a:latin typeface="Arial"/>
                <a:ea typeface="Arial"/>
                <a:cs typeface="Arial"/>
              </a:rPr>
              <a:t>Wyjaśnienie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B1031C-5A86-496F-B846-A6F40C22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05375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pseudokod i powód</a:t>
            </a:r>
          </a:p>
        </p:txBody>
      </p:sp>
    </p:spTree>
    <p:extLst>
      <p:ext uri="{BB962C8B-B14F-4D97-AF65-F5344CB8AC3E}">
        <p14:creationId xmlns:p14="http://schemas.microsoft.com/office/powerpoint/2010/main" val="15496737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94292C-9465-4577-8CA8-43E9B563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B1BFA-BD16-4D10-9BF5-02DD589B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76F"/>
                </a:solidFill>
                <a:latin typeface="Arial"/>
                <a:ea typeface="Arial"/>
                <a:cs typeface="Arial"/>
              </a:rPr>
              <a:t>TECHNOLOGIE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CE7FE-F80A-4746-9F88-64E7CACE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740"/>
                </a:solidFill>
                <a:latin typeface="Arial"/>
                <a:ea typeface="Arial"/>
                <a:cs typeface="Arial"/>
              </a:rPr>
              <a:t>Lokalna aplikacja i testy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EE385-7B9F-46CF-B522-63D3405B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2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7F287-B9F4-41CD-8013-FA627CD0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ASD1-M1-01  ·  2026/2027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D3B32-311D-451B-94AF-2C388B33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06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B169DB-6A65-4FEC-801B-6E76C972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478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08E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E8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8E8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529CB-9248-42A0-A0A6-151F2C6B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71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82B21-88D3-42D9-B89A-7C593732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035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740"/>
                </a:solidFill>
                <a:latin typeface="Arial"/>
                <a:ea typeface="Arial"/>
                <a:cs typeface="Arial"/>
              </a:rPr>
              <a:t>HTML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71F6B-E016-4DE4-81B5-EB739065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67075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interfejs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8C220E-B602-432B-9464-5A697612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478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08E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E8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8E8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F2783-08CF-4513-A98F-1C70EF1F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71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F6EFF3-1E02-4895-82CD-B1038D13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0035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740"/>
                </a:solidFill>
                <a:latin typeface="Arial"/>
                <a:ea typeface="Arial"/>
                <a:cs typeface="Arial"/>
              </a:rPr>
              <a:t>CSS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226B13-AE53-4B67-97F8-6E233AD8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67075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układ i wyróżnienia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351609-47EE-4DA9-8CBB-ACA48BA9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0478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08E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E8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8E8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26B679-046E-4B1B-A30F-4BA80DEB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571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6AF65A-29CC-4796-8F36-00DE094F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0035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740"/>
                </a:solidFill>
                <a:latin typeface="Arial"/>
                <a:ea typeface="Arial"/>
                <a:cs typeface="Arial"/>
              </a:rPr>
              <a:t>JavaScript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537A11-95B5-4166-A45E-AAD1E0CA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267075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algorytmy i animacja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6F32F5-A250-4A7B-B78A-FE5DCF52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478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08E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8E8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8E8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3B1149-A425-4FFA-B778-8B78B12F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71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5020C1-3F36-4C5F-AD20-7143312E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0035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740"/>
                </a:solidFill>
                <a:latin typeface="Arial"/>
                <a:ea typeface="Arial"/>
                <a:cs typeface="Arial"/>
              </a:rPr>
              <a:t>Node.js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BE90D4-EEE9-4DF8-988B-CD5B8251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67075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testy i liczniki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15C225-27DD-414C-9FC2-F5C0ED6D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10429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37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740"/>
                </a:solidFill>
                <a:latin typeface="Arial"/>
                <a:ea typeface="Arial"/>
                <a:cs typeface="Arial"/>
              </a:rPr>
              <a:t>Uruchomienie w przeglądarce nie wymaga konta ani płatnego API. Aplikacja nie wysyła danych wejściowych do internetu.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097FF0-C3AB-4CB8-86FE-2D80F7D3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25241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7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A6ED6D-B719-41EC-85F8-73786A1D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816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14 testów zaliczonych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427799-9D7F-4622-83EA-2CD14B7A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37210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Testy używają tego samego modułu algorytmów co wizualizacja.</a:t>
            </a:r>
          </a:p>
        </p:txBody>
      </p:sp>
    </p:spTree>
    <p:extLst>
      <p:ext uri="{BB962C8B-B14F-4D97-AF65-F5344CB8AC3E}">
        <p14:creationId xmlns:p14="http://schemas.microsoft.com/office/powerpoint/2010/main" val="19711759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01BBD5-070E-46F4-8628-72EFA4BB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D2855-664B-4E5E-8C1D-8A7D50FF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76F"/>
                </a:solidFill>
                <a:latin typeface="Arial"/>
                <a:ea typeface="Arial"/>
                <a:cs typeface="Arial"/>
              </a:rPr>
              <a:t>REALIZACJA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5051B-3A8C-4F86-A6A9-B6F4F322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740"/>
                </a:solidFill>
                <a:latin typeface="Arial"/>
                <a:ea typeface="Arial"/>
                <a:cs typeface="Arial"/>
              </a:rPr>
              <a:t>Widok aplikacji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EA9A9-DCE1-4B53-B11A-0D6AE542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2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65ADA-1A76-404C-ADDD-92A94518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ASD1-M1-01  ·  2026/2027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2D79C-3615-4053-96C7-2E606991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07 / 10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E349D-1358-46BE-A45A-9B6FE59608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01f029095e4996"/>
          <a:stretch xmlns:a="http://schemas.openxmlformats.org/drawingml/2006/main"/>
        </p:blipFill>
        <p:spPr>
          <a:xfrm xmlns:a="http://schemas.openxmlformats.org/drawingml/2006/main">
            <a:off x="2252533" y="1581150"/>
            <a:ext cx="3724534" cy="4381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A2157A-1CEC-47EF-84E1-45B514C9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62125"/>
            <a:ext cx="347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679"/>
          </a:bodyPr>
          <a:lstStyle xmlns:a="http://schemas.openxmlformats.org/drawingml/2006/main">
            <a:defPPr algn="l">
              <a:defRPr sz="202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76F"/>
                </a:solidFill>
                <a:latin typeface="Arial"/>
                <a:ea typeface="Arial"/>
                <a:cs typeface="Arial"/>
              </a:rPr>
              <a:t>Przebieg obliczony przez algorytm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C91809-27EF-4005-80A9-CC8E3A59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43175"/>
            <a:ext cx="34861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37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740"/>
                </a:solidFill>
                <a:latin typeface="Arial"/>
                <a:ea typeface="Arial"/>
                <a:cs typeface="Arial"/>
              </a:rPr>
              <a:t>• Zmień dane lub wybierz gotowy zestaw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740"/>
                </a:solidFill>
                <a:latin typeface="Arial"/>
                <a:ea typeface="Arial"/>
                <a:cs typeface="Arial"/>
              </a:rPr>
              <a:t>• Wybierz algorytm i szybkość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740"/>
                </a:solidFill>
                <a:latin typeface="Arial"/>
                <a:ea typeface="Arial"/>
                <a:cs typeface="Arial"/>
              </a:rPr>
              <a:t>• Krok pokazuje następną klatkę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740"/>
                </a:solidFill>
                <a:latin typeface="Arial"/>
                <a:ea typeface="Arial"/>
                <a:cs typeface="Arial"/>
              </a:rPr>
              <a:t>• Start, pauza i reset sterują pokazem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7350A-A175-402D-A621-929B732C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4864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Stan na ilustracji: Selection Sort, minimum i indeksy widoczne.</a:t>
            </a:r>
          </a:p>
        </p:txBody>
      </p:sp>
    </p:spTree>
    <p:extLst>
      <p:ext uri="{BB962C8B-B14F-4D97-AF65-F5344CB8AC3E}">
        <p14:creationId xmlns:p14="http://schemas.microsoft.com/office/powerpoint/2010/main" val="5256193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8EFDA2-A994-4F4D-9909-82615F4B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38AAD-A9E3-453C-B4C0-09B0C8F0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76F"/>
                </a:solidFill>
                <a:latin typeface="Arial"/>
                <a:ea typeface="Arial"/>
                <a:cs typeface="Arial"/>
              </a:rPr>
              <a:t>TESTY I POMIAR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22926-4C13-4145-9F42-91F890E5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740"/>
                </a:solidFill>
                <a:latin typeface="Arial"/>
                <a:ea typeface="Arial"/>
                <a:cs typeface="Arial"/>
              </a:rPr>
              <a:t>Liczniki dla n = 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C0E41-0248-4F14-A94C-D2A13EE7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2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99025-6B58-402D-A54F-D810D946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ASD1-M1-01  ·  2026/2027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C66A4-57E0-4175-8C61-A28DE4CD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08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01969C-690D-43E4-B74B-D926F9C4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Porównania kluczy i zapisy do tablicy (w tym bufora). Zamiana dwóch pozycji = 2 zapisy.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D08BD-5E92-4FEE-BF5B-CF791A2C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288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76F"/>
                </a:solidFill>
                <a:latin typeface="Arial"/>
                <a:ea typeface="Arial"/>
                <a:cs typeface="Arial"/>
              </a:rPr>
              <a:t>Dane rosnące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BAA19-9614-4924-985C-CFE211DFE13C}"/>
              </a:ext>
            </a:extLst>
          </p:cNvPr>
          <p:cNvGraphicFramePr/>
          <p:nvPr/>
        </p:nvGraphicFramePr>
        <p:xfrm>
          <a:off xmlns:a="http://schemas.openxmlformats.org/drawingml/2006/main" x="619125" y="2466975"/>
          <a:ext xmlns:a="http://schemas.openxmlformats.org/drawingml/2006/main" cx="352425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174750"/>
                <a:gridCol w="1174750"/>
                <a:gridCol w="1174750"/>
              </a:tblGrid>
              <a:tr h="571500"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Algorytm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E2E1"/>
                      </a:solidFill>
                      <a:prstDash val="solid"/>
                    </a:lnL>
                    <a:lnR w="9525">
                      <a:solidFill>
                        <a:srgbClr val="D4E2E1"/>
                      </a:solidFill>
                      <a:prstDash val="solid"/>
                    </a:lnR>
                    <a:lnT w="9525">
                      <a:solidFill>
                        <a:srgbClr val="D4E2E1"/>
                      </a:solidFill>
                      <a:prstDash val="solid"/>
                    </a:lnT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123B45"/>
                    </a:solidFill>
                  </a:tcPr>
                </a:tc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Por.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2E1"/>
                      </a:solidFill>
                      <a:prstDash val="solid"/>
                    </a:lnR>
                    <a:lnT w="9525">
                      <a:solidFill>
                        <a:srgbClr val="D4E2E1"/>
                      </a:solidFill>
                      <a:prstDash val="solid"/>
                    </a:lnT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123B45"/>
                    </a:solidFill>
                  </a:tcPr>
                </a:tc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Zap.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2E1"/>
                      </a:solidFill>
                      <a:prstDash val="solid"/>
                    </a:lnR>
                    <a:lnT w="9525">
                      <a:solidFill>
                        <a:srgbClr val="D4E2E1"/>
                      </a:solidFill>
                      <a:prstDash val="solid"/>
                    </a:lnT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123B45"/>
                    </a:solidFill>
                  </a:tcPr>
                </a:tc>
              </a:tr>
              <a:tr h="571500"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Selection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E2E1"/>
                      </a:solidFill>
                      <a:prstDash val="solid"/>
                    </a:lnL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780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Insertion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E2E1"/>
                      </a:solidFill>
                      <a:prstDash val="solid"/>
                    </a:lnL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39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</a:tr>
              <a:tr h="571500"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Merge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E2E1"/>
                      </a:solidFill>
                      <a:prstDash val="solid"/>
                    </a:lnL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116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432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Quick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E2E1"/>
                      </a:solidFill>
                      <a:prstDash val="solid"/>
                    </a:lnL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780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5E58F-2879-4884-B6D0-715CFCE6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0288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76F"/>
                </a:solidFill>
                <a:latin typeface="Arial"/>
                <a:ea typeface="Arial"/>
                <a:cs typeface="Arial"/>
              </a:rPr>
              <a:t>Dane malejące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FA2F6-EEBC-46E5-8451-B502515CDE3B}"/>
              </a:ext>
            </a:extLst>
          </p:cNvPr>
          <p:cNvGraphicFramePr/>
          <p:nvPr/>
        </p:nvGraphicFramePr>
        <p:xfrm>
          <a:off xmlns:a="http://schemas.openxmlformats.org/drawingml/2006/main" x="4448175" y="2466975"/>
          <a:ext xmlns:a="http://schemas.openxmlformats.org/drawingml/2006/main" cx="352425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174750"/>
                <a:gridCol w="1174750"/>
                <a:gridCol w="1174750"/>
              </a:tblGrid>
              <a:tr h="571500"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Algorytm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E2E1"/>
                      </a:solidFill>
                      <a:prstDash val="solid"/>
                    </a:lnL>
                    <a:lnR w="9525">
                      <a:solidFill>
                        <a:srgbClr val="D4E2E1"/>
                      </a:solidFill>
                      <a:prstDash val="solid"/>
                    </a:lnR>
                    <a:lnT w="9525">
                      <a:solidFill>
                        <a:srgbClr val="D4E2E1"/>
                      </a:solidFill>
                      <a:prstDash val="solid"/>
                    </a:lnT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123B45"/>
                    </a:solidFill>
                  </a:tcPr>
                </a:tc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Por.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2E1"/>
                      </a:solidFill>
                      <a:prstDash val="solid"/>
                    </a:lnR>
                    <a:lnT w="9525">
                      <a:solidFill>
                        <a:srgbClr val="D4E2E1"/>
                      </a:solidFill>
                      <a:prstDash val="solid"/>
                    </a:lnT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123B45"/>
                    </a:solidFill>
                  </a:tcPr>
                </a:tc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Zap.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2E1"/>
                      </a:solidFill>
                      <a:prstDash val="solid"/>
                    </a:lnR>
                    <a:lnT w="9525">
                      <a:solidFill>
                        <a:srgbClr val="D4E2E1"/>
                      </a:solidFill>
                      <a:prstDash val="solid"/>
                    </a:lnT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123B45"/>
                    </a:solidFill>
                  </a:tcPr>
                </a:tc>
              </a:tr>
              <a:tr h="571500"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Selection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E2E1"/>
                      </a:solidFill>
                      <a:prstDash val="solid"/>
                    </a:lnL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780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Insertion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E2E1"/>
                      </a:solidFill>
                      <a:prstDash val="solid"/>
                    </a:lnL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780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819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</a:tr>
              <a:tr h="571500"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Merge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E2E1"/>
                      </a:solidFill>
                      <a:prstDash val="solid"/>
                    </a:lnL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432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Quick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E2E1"/>
                      </a:solidFill>
                      <a:prstDash val="solid"/>
                    </a:lnL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780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E0FFB2-A232-41B0-9028-B43157B8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0288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76F"/>
                </a:solidFill>
                <a:latin typeface="Arial"/>
                <a:ea typeface="Arial"/>
                <a:cs typeface="Arial"/>
              </a:rPr>
              <a:t>Powtórzenia</a:t>
            </a: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B8B000-6050-40FD-8D04-C3B483C67F46}"/>
              </a:ext>
            </a:extLst>
          </p:cNvPr>
          <p:cNvGraphicFramePr/>
          <p:nvPr/>
        </p:nvGraphicFramePr>
        <p:xfrm>
          <a:off xmlns:a="http://schemas.openxmlformats.org/drawingml/2006/main" x="8277225" y="2466975"/>
          <a:ext xmlns:a="http://schemas.openxmlformats.org/drawingml/2006/main" cx="352425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174750"/>
                <a:gridCol w="1174750"/>
                <a:gridCol w="1174750"/>
              </a:tblGrid>
              <a:tr h="571500"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Algorytm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E2E1"/>
                      </a:solidFill>
                      <a:prstDash val="solid"/>
                    </a:lnL>
                    <a:lnR w="9525">
                      <a:solidFill>
                        <a:srgbClr val="D4E2E1"/>
                      </a:solidFill>
                      <a:prstDash val="solid"/>
                    </a:lnR>
                    <a:lnT w="9525">
                      <a:solidFill>
                        <a:srgbClr val="D4E2E1"/>
                      </a:solidFill>
                      <a:prstDash val="solid"/>
                    </a:lnT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123B45"/>
                    </a:solidFill>
                  </a:tcPr>
                </a:tc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Por.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2E1"/>
                      </a:solidFill>
                      <a:prstDash val="solid"/>
                    </a:lnR>
                    <a:lnT w="9525">
                      <a:solidFill>
                        <a:srgbClr val="D4E2E1"/>
                      </a:solidFill>
                      <a:prstDash val="solid"/>
                    </a:lnT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123B45"/>
                    </a:solidFill>
                  </a:tcPr>
                </a:tc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Zap.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2E1"/>
                      </a:solidFill>
                      <a:prstDash val="solid"/>
                    </a:lnR>
                    <a:lnT w="9525">
                      <a:solidFill>
                        <a:srgbClr val="D4E2E1"/>
                      </a:solidFill>
                      <a:prstDash val="solid"/>
                    </a:lnT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123B45"/>
                    </a:solidFill>
                  </a:tcPr>
                </a:tc>
              </a:tr>
              <a:tr h="571500"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Selection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E2E1"/>
                      </a:solidFill>
                      <a:prstDash val="solid"/>
                    </a:lnL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780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62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Insertion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E2E1"/>
                      </a:solidFill>
                      <a:prstDash val="solid"/>
                    </a:lnL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319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308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</a:tr>
              <a:tr h="571500"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Merge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E2E1"/>
                      </a:solidFill>
                      <a:prstDash val="solid"/>
                    </a:lnL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164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432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Quick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E2E1"/>
                      </a:solidFill>
                      <a:prstDash val="solid"/>
                    </a:lnL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248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 lIns="76200" tIns="76200" rIns="76200" bIns="76200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3740"/>
                          </a:solidFill>
                          <a:latin typeface="Arial"/>
                          <a:ea typeface="Arial"/>
                          <a:cs typeface="Arial"/>
                        </a:rPr>
                        <a:t>140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2E1"/>
                      </a:solidFill>
                      <a:prstDash val="solid"/>
                    </a:lnR>
                    <a:lnB w="9525">
                      <a:solidFill>
                        <a:srgbClr val="D4E2E1"/>
                      </a:solidFill>
                      <a:prstDash val="solid"/>
                    </a:lnB>
                    <a:solidFill>
                      <a:srgbClr val="EAF3F1"/>
                    </a:solidFill>
                  </a:tcPr>
                </a:tc>
              </a:tr>
            </a:tbl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219117-443D-4634-A5A8-EE1BB5D5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10648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Pomiar czasu zegarowego nie był wykonywany. Liczniki wynikają z 36 deterministycznych przebiegów.</a:t>
            </a:r>
          </a:p>
        </p:txBody>
      </p:sp>
    </p:spTree>
    <p:extLst>
      <p:ext uri="{BB962C8B-B14F-4D97-AF65-F5344CB8AC3E}">
        <p14:creationId xmlns:p14="http://schemas.microsoft.com/office/powerpoint/2010/main" val="10533085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6A0191-6D5C-4DF8-9153-64BFE3B0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A57D5-723B-4AF9-A2A3-0034CEA1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76F"/>
                </a:solidFill>
                <a:latin typeface="Arial"/>
                <a:ea typeface="Arial"/>
                <a:cs typeface="Arial"/>
              </a:rPr>
              <a:t>WNIOSKI I OGRANICZENIA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95247-4637-435F-BCB6-C80C602A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740"/>
                </a:solidFill>
                <a:latin typeface="Arial"/>
                <a:ea typeface="Arial"/>
                <a:cs typeface="Arial"/>
              </a:rPr>
              <a:t>Koszt zależy od wejścia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639ED-5101-4BFA-A54E-0EF3F6A6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2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4A0AC-77B2-4C40-9DD3-63474F70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ASD1-M1-01  ·  2026/2027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04E69-0A6A-4DB1-8C6F-0B8DE59C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09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4554B-1579-4FAD-B3BE-190EBEF5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76F"/>
                </a:solidFill>
                <a:latin typeface="Arial"/>
                <a:ea typeface="Arial"/>
                <a:cs typeface="Arial"/>
              </a:rPr>
              <a:t>Wnioski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5E6054-C625-4198-B186-91C84783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485775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37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740"/>
                </a:solidFill>
                <a:latin typeface="Arial"/>
                <a:ea typeface="Arial"/>
                <a:cs typeface="Arial"/>
              </a:rPr>
              <a:t>• Selection wykonuje n(n−1)/2 porównań także dla danych rosnących.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740"/>
                </a:solidFill>
                <a:latin typeface="Arial"/>
                <a:ea typeface="Arial"/>
                <a:cs typeface="Arial"/>
              </a:rPr>
              <a:t>• Insertion korzysta z uporządkowanego wejścia.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740"/>
                </a:solidFill>
                <a:latin typeface="Arial"/>
                <a:ea typeface="Arial"/>
                <a:cs typeface="Arial"/>
              </a:rPr>
              <a:t>• Merge zapisuje do bufora i kopiuje z powrotem.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740"/>
                </a:solidFill>
                <a:latin typeface="Arial"/>
                <a:ea typeface="Arial"/>
                <a:cs typeface="Arial"/>
              </a:rPr>
              <a:t>• Lomuto może wykonać koszt kwadratowy przy złym pivocie.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AA9AF-B09D-4198-9EDA-5091A5CD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24025"/>
            <a:ext cx="1905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2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9302EF-A97F-4AA3-9A6C-92D25DC5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76F"/>
                </a:solidFill>
                <a:latin typeface="Arial"/>
                <a:ea typeface="Arial"/>
                <a:cs typeface="Arial"/>
              </a:rPr>
              <a:t>Ograniczenia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2976E8-3F30-4311-91DD-D5896329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71700"/>
            <a:ext cx="45720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37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740"/>
                </a:solidFill>
                <a:latin typeface="Arial"/>
                <a:ea typeface="Arial"/>
                <a:cs typeface="Arial"/>
              </a:rPr>
              <a:t>• Maksymalnie 40 wartości całkowitych z zakresu −99…99.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740"/>
                </a:solidFill>
                <a:latin typeface="Arial"/>
                <a:ea typeface="Arial"/>
                <a:cs typeface="Arial"/>
              </a:rPr>
              <a:t>• Liczniki nie mierzą czasu ani zużycia pamięci.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740"/>
                </a:solidFill>
                <a:latin typeface="Arial"/>
                <a:ea typeface="Arial"/>
                <a:cs typeface="Arial"/>
              </a:rPr>
              <a:t>• Stabilność sprawdzana po identyfikatorach elementów.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740"/>
                </a:solidFill>
                <a:latin typeface="Arial"/>
                <a:ea typeface="Arial"/>
                <a:cs typeface="Arial"/>
              </a:rPr>
              <a:t>• Autor powinien samodzielnie objaśnić kod i wyniki.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1FE65F-8591-4848-8A27-9CB66D39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6737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Materiały: Princeton Algorithms · Elementary Sorts · Mergesort · Quicksort</a:t>
            </a:r>
          </a:p>
        </p:txBody>
      </p:sp>
    </p:spTree>
    <p:extLst>
      <p:ext uri="{BB962C8B-B14F-4D97-AF65-F5344CB8AC3E}">
        <p14:creationId xmlns:p14="http://schemas.microsoft.com/office/powerpoint/2010/main" val="10849658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C385F-B770-45B9-8DCF-B482B57D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E5D10-AF85-4CDB-BC8B-86117B74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76F"/>
                </a:solidFill>
                <a:latin typeface="Arial"/>
                <a:ea typeface="Arial"/>
                <a:cs typeface="Arial"/>
              </a:rPr>
              <a:t>OBRONA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EA40C-1A08-43F9-9846-6642D078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740"/>
                </a:solidFill>
                <a:latin typeface="Arial"/>
                <a:ea typeface="Arial"/>
                <a:cs typeface="Arial"/>
              </a:rPr>
              <a:t>Plan demonstracji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3F20E-9B47-4553-8E46-EDEF3926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2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97A50-36ED-461B-960B-B67E993F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ASD1-M1-01  ·  2026/2027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DF159-FDB1-47E8-A8A1-9E546B15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570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78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CB175-4B98-482A-934E-3EAACA68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485775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737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740"/>
                </a:solidFill>
                <a:latin typeface="Arial"/>
                <a:ea typeface="Arial"/>
                <a:cs typeface="Arial"/>
              </a:rPr>
              <a:t>1. Uruchom aplikację lokalnie.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740"/>
                </a:solidFill>
                <a:latin typeface="Arial"/>
                <a:ea typeface="Arial"/>
                <a:cs typeface="Arial"/>
              </a:rPr>
              <a:t>2. Pokaż cztery algorytmy i pseudokod.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740"/>
                </a:solidFill>
                <a:latin typeface="Arial"/>
                <a:ea typeface="Arial"/>
                <a:cs typeface="Arial"/>
              </a:rPr>
              <a:t>3. Przejdź jeden przebieg krok po kroku.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740"/>
                </a:solidFill>
                <a:latin typeface="Arial"/>
                <a:ea typeface="Arial"/>
                <a:cs typeface="Arial"/>
              </a:rPr>
              <a:t>4. Zmień dane i uruchom inny scenariusz.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E97A8-E453-4473-905A-B0D87A74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09750"/>
            <a:ext cx="485775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737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740"/>
                </a:solidFill>
                <a:latin typeface="Arial"/>
                <a:ea typeface="Arial"/>
                <a:cs typeface="Arial"/>
              </a:rPr>
              <a:t>5. Otwórz porównanie liczników.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740"/>
                </a:solidFill>
                <a:latin typeface="Arial"/>
                <a:ea typeface="Arial"/>
                <a:cs typeface="Arial"/>
              </a:rPr>
              <a:t>6. Pokaż duplikaty lub przypadek brzegowy.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740"/>
                </a:solidFill>
                <a:latin typeface="Arial"/>
                <a:ea typeface="Arial"/>
                <a:cs typeface="Arial"/>
              </a:rPr>
              <a:t>7. Odpowiedz na pytanie o bieżący stan.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37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740"/>
                </a:solidFill>
                <a:latin typeface="Arial"/>
                <a:ea typeface="Arial"/>
                <a:cs typeface="Arial"/>
              </a:rPr>
              <a:t>8. Wyjaśnij kod i wyniki testów.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2C506-2D5B-4A26-9FF6-8CA2F9E1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828800"/>
            <a:ext cx="190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2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A26289-80EB-4E7C-85EB-C600E8B1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0776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76F"/>
                </a:solidFill>
                <a:latin typeface="Arial"/>
                <a:ea typeface="Arial"/>
                <a:cs typeface="Arial"/>
              </a:rPr>
              <a:t>Daniel Nedwecki  ·  Numer indeksu 93797</a:t>
            </a:r>
          </a:p>
        </p:txBody>
      </p:sp>
    </p:spTree>
    <p:extLst>
      <p:ext uri="{BB962C8B-B14F-4D97-AF65-F5344CB8AC3E}">
        <p14:creationId xmlns:p14="http://schemas.microsoft.com/office/powerpoint/2010/main" val="13741894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2026-10-26T16:45:03.1850000Z</dcterms:created>
  <dcterms:modified xsi:type="dcterms:W3CDTF">2026-10-26T16:45:03.1850000Z</dcterms:modified>
</coreProperties>
</file>